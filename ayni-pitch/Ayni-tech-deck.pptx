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– 0:08]   HERO</a:t>
            </a:r>
          </a:p>
          <a:p/>
          <a:p>
            <a:r>
              <a:t>Ayni: AI agents pay sub-cent in Lightning, and every payment auto-splits to the contributors who maintain the knowledge.</a:t>
            </a:r>
          </a:p>
          <a:p/>
          <a:p>
            <a:r>
              <a:t>— beat — let it land before clicking to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[0:08 – 0:25]   SYSTEM ARCHITECTURE   ★ centerpiece slide ★</a:t>
            </a:r>
          </a:p>
          <a:p/>
          <a:p>
            <a:r>
              <a:t>(point at the AGENT column on the left)</a:t>
            </a:r>
          </a:p>
          <a:p>
            <a:r>
              <a:t>Stack: Next.js 15 on Vercel, MoneyDevKit 0.16, L402 over Bitcoin mainnet.</a:t>
            </a:r>
          </a:p>
          <a:p/>
          <a:p>
            <a:r>
              <a:t>(sweep right, into the AYNI middle container)</a:t>
            </a:r>
          </a:p>
          <a:p>
            <a:r>
              <a:t>An agent discovers our endpoints through a public agent-skill manifest, then calls the API.</a:t>
            </a:r>
          </a:p>
          <a:p/>
          <a:p>
            <a:r>
              <a:t>(point at arrow 2 — Ayni → Lightning)</a:t>
            </a:r>
          </a:p>
          <a:p>
            <a:r>
              <a:t>The API returns a 402 with a Lightning invoice and a macaroon. The agent's wallet pays. We verify the preimage and return the answer.</a:t>
            </a:r>
          </a:p>
          <a:p/>
          <a:p>
            <a:r>
              <a:t>(point at arrow 3 — Splitter → Contributors)</a:t>
            </a:r>
          </a:p>
          <a:p>
            <a:r>
              <a:t>Then the splitter fans out real Lightning sends to each contributor's BOLT12 or Lightning Address.</a:t>
            </a:r>
          </a:p>
          <a:p/>
          <a:p>
            <a:r>
              <a:t>— 17 seconds. Densest slide. Practice this one alone first. Use cursor / laser pointer (Ctrl+L in slideshow mode) to point at each zone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– 0:35]   L402 ZOOM</a:t>
            </a:r>
          </a:p>
          <a:p/>
          <a:p>
            <a:r>
              <a:t>Inside the API route: MDK returns the 402 with the Lightning invoice and macaroon. The agent retries with the preimage. We verify SHA-256 against the payment hash before answering.</a:t>
            </a:r>
          </a:p>
          <a:p/>
          <a:p>
            <a:r>
              <a:t>— stress: "402", "macaroon", "preimage", "SHA-256". 10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 – 0:46]   ONWARD FAN-OUT</a:t>
            </a:r>
          </a:p>
          <a:p/>
          <a:p>
            <a:r>
              <a:t>The splitter uses floor-then-residual rounding — per-wallet sats sum exactly to the total. A 100-sat call to Tributario PE pays 40-30-10-10-10 to five wallets in seconds.</a:t>
            </a:r>
          </a:p>
          <a:p/>
          <a:p>
            <a:r>
              <a:t>— stress: "floor-then-residual", "exactly", "40-30-10-10-10". 11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[0:46 – 0:55]   IMPLEMENTATION — THE FIX</a:t>
            </a:r>
          </a:p>
          <a:p/>
          <a:p>
            <a:r>
              <a:t>Critical fix: the WebSocket lib and the native Lightning binding broke under webpack. We externalized them and pinned the route to the Node.js runtime. That commit unlocked end-to-end.</a:t>
            </a:r>
          </a:p>
          <a:p/>
          <a:p>
            <a:r>
              <a:t>— stress: "externalized", "Node.js runtime", "unlocked end-to-end". 9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 – 1:00]   CLOSING</a:t>
            </a:r>
          </a:p>
          <a:p/>
          <a:p>
            <a:r>
              <a:t>Live on mainnet at ayniw.com. MIT on GitHub.</a:t>
            </a:r>
          </a:p>
          <a:p/>
          <a:p>
            <a:r>
              <a:t>— stop talking. Don't read the URL twice. 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0:00 – 0:08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F7931A"/>
                </a:solidFill>
                <a:latin typeface="Calibri"/>
              </a:rPr>
              <a:t>ayni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ECECF0"/>
                </a:solidFill>
                <a:latin typeface="Calibri"/>
              </a:rPr>
              <a:t>agent-paid expert APIs   ·   over Lightning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8B93A7"/>
                </a:solidFill>
                <a:latin typeface="Calibri"/>
              </a:rPr>
              <a:t>AI agents pay sub-cent in Lightning. Payment auto-splits to the contributors who maintain the knowledge.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B93A7"/>
                </a:solidFill>
                <a:latin typeface="Calibri"/>
              </a:rPr>
              <a:t>Hack Nation 5 — Tech Video — 60 sec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0:08 – 0:25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CECF0"/>
                </a:solidFill>
                <a:latin typeface="Calibri"/>
              </a:rPr>
              <a:t>How it fits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2103120" cy="219456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7931A"/>
                </a:solidFill>
                <a:latin typeface="Calibri"/>
              </a:rPr>
              <a:t>AI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+ wallet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B93A7"/>
                </a:solidFill>
                <a:latin typeface="Consolas"/>
              </a:rPr>
              <a:t>MDK · Phoenix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B93A7"/>
                </a:solidFill>
                <a:latin typeface="Consolas"/>
              </a:rPr>
              <a:t>Alby · Strike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331720"/>
            <a:ext cx="5394960" cy="3931920"/>
          </a:xfrm>
          <a:prstGeom prst="roundRect">
            <a:avLst>
              <a:gd name="adj" fmla="val 4000"/>
            </a:avLst>
          </a:prstGeom>
          <a:solidFill>
            <a:srgbClr val="182138"/>
          </a:solidFill>
          <a:ln w="12700">
            <a:solidFill>
              <a:srgbClr val="F793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468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Ayni  —  Next.js 15 on Vercel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17520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1546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manifest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520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794760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/.well-known/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agent-skill.json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017520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31546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API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520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L402 paywall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794760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/api/ayni/[plugin]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MDK · withPayment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40579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477773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splitter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514349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fan-out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417819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scripts/demo-flow.sh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floor-then-residual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4640579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77773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14349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live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417819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/api/payouts/stream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SSE  ·  2-phase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331720"/>
            <a:ext cx="2468880" cy="178308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5603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alibri"/>
              </a:rPr>
              <a:t>Lightning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63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CECF0"/>
                </a:solidFill>
                <a:latin typeface="Calibri"/>
              </a:rPr>
              <a:t>Bitcoin mainnet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4747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BOLT11 invoices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434340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5262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7931A"/>
                </a:solidFill>
                <a:latin typeface="Calibri"/>
              </a:rPr>
              <a:t>Contributors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onsolas"/>
              </a:rPr>
              <a:t>BOLT12  /  LN-Address</a:t>
            </a:r>
          </a:p>
        </p:txBody>
      </p:sp>
      <p:sp>
        <p:nvSpPr>
          <p:cNvPr id="36" name="Oval 35"/>
          <p:cNvSpPr/>
          <p:nvPr/>
        </p:nvSpPr>
        <p:spPr>
          <a:xfrm>
            <a:off x="9363456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793224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22992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52760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082528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697480" y="416052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51760" y="3794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CECF0"/>
                </a:solidFill>
                <a:latin typeface="Calibri"/>
              </a:rPr>
              <a:t>1.  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4480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B93A7"/>
                </a:solidFill>
                <a:latin typeface="Calibri"/>
              </a:rPr>
              <a:t>← answer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641080" y="310896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CECF0"/>
                </a:solidFill>
                <a:latin typeface="Calibri"/>
              </a:rPr>
              <a:t>2.  invoice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B93A7"/>
                </a:solidFill>
                <a:latin typeface="Calibri"/>
              </a:rPr>
              <a:t>← preimage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8641080" y="521208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CECF0"/>
                </a:solidFill>
                <a:latin typeface="Calibri"/>
              </a:rPr>
              <a:t>3.  fan-out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0080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FFD580"/>
                </a:solidFill>
                <a:latin typeface="Calibri"/>
              </a:rPr>
              <a:t>(1) agent calls API   →   (2) MDK issues + verifies Lightning invoice   →   (3) splitter fans out to all contributors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0:25 – 0:35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L402 ZOOM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Inside the API route.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Agent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GET /api/ayni/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tributario-pe?q=igv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6324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402 returned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Lightning invoice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+ L402 macaroon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9788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Pay +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Authorization: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L402 &lt;mac&gt;:&lt;preimage&gt;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3252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Verify + 200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sha256(preimage)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=== paymentHash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FFD580"/>
                </a:solidFill>
                <a:latin typeface="Calibri"/>
              </a:rPr>
              <a:t>End-to-end on Bitcoin mainnet. Real invoices. Real preimage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0:35 – 0:46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ONWARD FAN-OUT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Splitter: floor-then-residual.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6400800" cy="3383280"/>
          </a:xfrm>
          <a:prstGeom prst="roundRect">
            <a:avLst>
              <a:gd name="adj" fmla="val 4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5669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# floor-then-residual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amounts = [floor(total * pct) for pct in splits]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residual = total - sum(amounts)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amounts[0] += residual    # curador absorbs drift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assert sum(amounts) == total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for wallet, sats in zip(wallets, amounts):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    pay_lightning(wallet, sats)   # BOLT12 / LN-Address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77440"/>
            <a:ext cx="4873752" cy="3383280"/>
          </a:xfrm>
          <a:prstGeom prst="roundRect">
            <a:avLst>
              <a:gd name="adj" fmla="val 4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606040"/>
            <a:ext cx="4325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017520"/>
            <a:ext cx="4325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100 sat → Tributario 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703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703320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Curador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0873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087368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Validador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47141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471416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85546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855464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239512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212080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ECC9A"/>
                </a:solidFill>
                <a:latin typeface="Consolas"/>
              </a:rPr>
              <a:t>Σ = 100 sat. No drift.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B93A7"/>
                </a:solidFill>
                <a:latin typeface="Calibri"/>
              </a:rPr>
              <a:t>Each wallet paid by BOLT12 or Lightning Address via the MDK agent-wallet.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0:46 – 0:55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CECF0"/>
                </a:solidFill>
                <a:latin typeface="Calibri"/>
              </a:rPr>
              <a:t>The fix that unlocked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L402 route 500'd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ws.mask() broke when bundled by webpack. Native lightning-js .node binding can't be webpacked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1624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624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1624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Webpack vs. native bindings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1624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Next.js bundled both modules into the route. Native code refused to load; ws was mangled by minification.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00288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288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Externalize + Node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288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next.config.mjs externals: ['ws','@moneydevkit/lightning-js']. Route handler: export const runtime = 'nodejs'.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onsolas"/>
              </a:rPr>
              <a:t>commit  09efcb6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8B93A7"/>
                </a:solidFill>
                <a:latin typeface="Consolas"/>
              </a:rPr>
              <a:t>fix(l402): externalize ws + lightning native module, set nodejs runtime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0:55 – 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2024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7200" b="1" i="0">
                <a:solidFill>
                  <a:srgbClr val="ECECF0"/>
                </a:solidFill>
                <a:latin typeface="Calibri"/>
              </a:rPr>
              <a:t>Live on mainnet.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7200" b="1" i="0">
                <a:solidFill>
                  <a:srgbClr val="F7931A"/>
                </a:solidFill>
                <a:latin typeface="Calibri"/>
              </a:rPr>
              <a:t>MIT on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i="0">
                <a:solidFill>
                  <a:srgbClr val="ECECF0"/>
                </a:solidFill>
                <a:latin typeface="Consolas"/>
              </a:rPr>
              <a:t>ayniw.com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692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8B93A7"/>
                </a:solidFill>
                <a:latin typeface="Consolas"/>
              </a:rPr>
              <a:t>github.com/d3nn1sVZ/Ayni-agents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