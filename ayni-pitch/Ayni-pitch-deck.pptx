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91695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0" b="1" i="0">
                <a:solidFill>
                  <a:srgbClr val="F7931A"/>
                </a:solidFill>
                <a:latin typeface="Calibri"/>
              </a:rPr>
              <a:t>ayni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 i="0">
                <a:solidFill>
                  <a:srgbClr val="ECECF0"/>
                </a:solidFill>
                <a:latin typeface="Calibri"/>
              </a:rPr>
              <a:t>Programmable reciprocity for the agent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1">
                <a:solidFill>
                  <a:srgbClr val="8B93A7"/>
                </a:solidFill>
                <a:latin typeface="Calibri"/>
              </a:rPr>
              <a:t>Quechua  ·  today I help you, tomorrow you help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CECF0"/>
                </a:solidFill>
                <a:latin typeface="Calibri"/>
              </a:rPr>
              <a:t>Dennis Vivas   ·   Cindy Rojas   ·   Miluska Pajuelo   ·   Jhoselyn Pajuelo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8B93A7"/>
                </a:solidFill>
                <a:latin typeface="Calibri"/>
              </a:rPr>
              <a:t>Lima, Peru   ·   Hack Nation 5   ·   Spiral Challenge 02   ·   ayniw.com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CECF0"/>
                </a:solidFill>
                <a:latin typeface="Calibri"/>
              </a:rPr>
              <a:t>AI agents pay tribes of human experts via Lightning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9167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ECECF0"/>
                </a:solidFill>
                <a:latin typeface="Calibri"/>
              </a:rPr>
              <a:t>Every sub-cent payment </a:t>
            </a:r>
            <a:r>
              <a:rPr sz="3600" b="1" i="0">
                <a:solidFill>
                  <a:srgbClr val="F7931A"/>
                </a:solidFill>
                <a:latin typeface="Calibri"/>
              </a:rPr>
              <a:t>auto-splits</a:t>
            </a:r>
            <a:r>
              <a:rPr sz="3600" b="1" i="0">
                <a:solidFill>
                  <a:srgbClr val="ECECF0"/>
                </a:solidFill>
                <a:latin typeface="Calibri"/>
              </a:rPr>
              <a:t> across all the contributors — in the same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3A7"/>
                </a:solidFill>
                <a:latin typeface="Calibri"/>
              </a:rPr>
              <a:t>ayniw.com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8B93A7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THE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ECECF0"/>
                </a:solidFill>
                <a:latin typeface="Calibri"/>
              </a:rPr>
              <a:t>What Stripe physically cannot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8B93A7"/>
                </a:solidFill>
                <a:latin typeface="Calibri"/>
              </a:rPr>
              <a:t>$0.30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ECECF0"/>
                </a:solidFill>
                <a:latin typeface="Calibri"/>
              </a:rPr>
              <a:t>Stripe's minimum fee per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02152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02152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55A4F"/>
                </a:solidFill>
                <a:latin typeface="Calibri"/>
              </a:rPr>
              <a:t>negative-sum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502152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ECECF0"/>
                </a:solidFill>
                <a:latin typeface="Calibri"/>
              </a:rPr>
              <a:t>Splitting one payment across 5 humans on Stripe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18304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7931A"/>
                </a:solidFill>
                <a:latin typeface="Calibri"/>
              </a:rPr>
              <a:t>~ $0.00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4718304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ECECF0"/>
                </a:solidFill>
                <a:latin typeface="Calibri"/>
              </a:rPr>
              <a:t>Splitting one payment across 5 humans on Lightning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1">
                <a:solidFill>
                  <a:srgbClr val="FFD580"/>
                </a:solidFill>
                <a:latin typeface="Calibri"/>
              </a:rPr>
              <a:t>We do the one thing the existing payment stack physically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ECECF0"/>
                </a:solidFill>
                <a:latin typeface="Calibri"/>
              </a:rPr>
              <a:t>AI agents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ECECF0"/>
                </a:solidFill>
                <a:latin typeface="Calibri"/>
              </a:rPr>
              <a:t>Model providers and platforms get paid.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109167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CECF0"/>
                </a:solidFill>
                <a:latin typeface="Calibri"/>
              </a:rPr>
              <a:t>The human experts whose knowledge powers the answers — </a:t>
            </a:r>
            <a:r>
              <a:rPr sz="4000" b="1" i="0">
                <a:solidFill>
                  <a:srgbClr val="F7931A"/>
                </a:solidFill>
                <a:latin typeface="Calibri"/>
              </a:rPr>
              <a:t>get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8B93A7"/>
                </a:solidFill>
                <a:latin typeface="Calibri"/>
              </a:rPr>
              <a:t>Not because nobody wants to pay them. Because the rails can't.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ECECF0"/>
                </a:solidFill>
                <a:latin typeface="Calibri"/>
              </a:rPr>
              <a:t>Live on Bitcoin mainnet.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Agent calls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GET /api/ayni/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tributario-pe?q=...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21868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17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402 + invoice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5204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Lightning invoice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+ L402 macaroon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321868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46888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Wallet pays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preimage verified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sha256(preimage) == hash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32520" y="3218688"/>
            <a:ext cx="365760" cy="329184"/>
          </a:xfrm>
          <a:prstGeom prst="rightArrow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246888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0175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CF0"/>
                </a:solidFill>
                <a:latin typeface="Calibri"/>
              </a:rPr>
              <a:t>Fan-out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5204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5 onward Lightning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3A7"/>
                </a:solidFill>
                <a:latin typeface="Consolas"/>
              </a:rPr>
              <a:t>sends to contributors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1">
                <a:solidFill>
                  <a:srgbClr val="FFD580"/>
                </a:solidFill>
                <a:latin typeface="Calibri"/>
              </a:rPr>
              <a:t>End-to-end on Bitcoin mainnet.   MIT-licensed.   Public agent-skill.json manifest.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9677" y="5577840"/>
            <a:ext cx="1687068" cy="45720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9677" y="5577840"/>
            <a:ext cx="16870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CECF0"/>
                </a:solidFill>
                <a:latin typeface="Calibri"/>
              </a:rPr>
              <a:t>MoneyDevKit v0.16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3905" y="5577840"/>
            <a:ext cx="1376172" cy="45720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3905" y="5577840"/>
            <a:ext cx="13761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CECF0"/>
                </a:solidFill>
                <a:latin typeface="Calibri"/>
              </a:rPr>
              <a:t>L402 protocol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87237" y="5577840"/>
            <a:ext cx="2386584" cy="45720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7237" y="5577840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CECF0"/>
                </a:solidFill>
                <a:latin typeface="Calibri"/>
              </a:rPr>
              <a:t>BOLT12 / Lightning Address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10981" y="5577840"/>
            <a:ext cx="1842516" cy="457200"/>
          </a:xfrm>
          <a:prstGeom prst="roundRect">
            <a:avLst>
              <a:gd name="adj" fmla="val 50000"/>
            </a:avLst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0981" y="5577840"/>
            <a:ext cx="18425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CECF0"/>
                </a:solidFill>
                <a:latin typeface="Calibri"/>
              </a:rPr>
              <a:t>Next.js 15 · 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8B93A7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CECF0"/>
                </a:solidFill>
                <a:latin typeface="Calibri"/>
              </a:rPr>
              <a:t>Two tribus shipped during the hackathon.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62956" cy="3566160"/>
          </a:xfrm>
          <a:prstGeom prst="roundRect">
            <a:avLst>
              <a:gd name="adj" fmla="val 5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6314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7931A"/>
                </a:solidFill>
                <a:latin typeface="Calibri"/>
              </a:rPr>
              <a:t>Tributario 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8B93A7"/>
                </a:solidFill>
                <a:latin typeface="Calibri"/>
              </a:rPr>
              <a:t>Peruvian tax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ECECF0"/>
                </a:solidFill>
                <a:latin typeface="Calibri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8B93A7"/>
                </a:solidFill>
                <a:latin typeface="Calibri"/>
              </a:rPr>
              <a:t>sat /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CECF0"/>
                </a:solidFill>
                <a:latin typeface="Calibri"/>
              </a:rPr>
              <a:t>5 contributors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D580"/>
                </a:solidFill>
                <a:latin typeface="Consolas"/>
              </a:rPr>
              <a:t>Curador 40   ·   Validador 30   ·   Contribuidor 10 ×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8B93A7"/>
                </a:solidFill>
                <a:latin typeface="Calibri"/>
              </a:rPr>
              <a:t>IGV  ·  rentas 4ta / 5ta  ·  RER  ·  NRUS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2286000"/>
            <a:ext cx="5362956" cy="3566160"/>
          </a:xfrm>
          <a:prstGeom prst="roundRect">
            <a:avLst>
              <a:gd name="adj" fmla="val 5000"/>
            </a:avLst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6" y="2560320"/>
            <a:ext cx="46314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7931A"/>
                </a:solidFill>
                <a:latin typeface="Calibri"/>
              </a:rPr>
              <a:t>Data Science 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3116" y="3154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8B93A7"/>
                </a:solidFill>
                <a:latin typeface="Calibri"/>
              </a:rPr>
              <a:t>Spanish / LatAm DS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3116" y="36576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ECECF0"/>
                </a:solidFill>
                <a:latin typeface="Calibri"/>
              </a:rP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1875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8B93A7"/>
                </a:solidFill>
                <a:latin typeface="Calibri"/>
              </a:rPr>
              <a:t>sat /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116" y="470916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CECF0"/>
                </a:solidFill>
                <a:latin typeface="Calibri"/>
              </a:rPr>
              <a:t>3 contributors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116" y="507492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D580"/>
                </a:solidFill>
                <a:latin typeface="Consolas"/>
              </a:rPr>
              <a:t>Curador 50   ·   Contribuidor 25 ×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5440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8B93A7"/>
                </a:solidFill>
                <a:latin typeface="Calibri"/>
              </a:rPr>
              <a:t>models  ·  datasets  ·  regional best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1">
                <a:solidFill>
                  <a:srgbClr val="FFD580"/>
                </a:solidFill>
                <a:latin typeface="Calibri"/>
              </a:rPr>
              <a:t>Adding a tribu = config change in data/tribus.json. Not a code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TIMING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629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CECF0"/>
                </a:solidFill>
                <a:latin typeface="Calibri"/>
              </a:rPr>
              <a:t>Why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70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L402 finally ergonomic   ·   MoneyDevKit v0.16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AI agents went production 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25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Lightning capacity mature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023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Stablecoin rails replace one gatekeeper with another. Lightning doesn't.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356" y="1737360"/>
            <a:ext cx="53629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CECF0"/>
                </a:solidFill>
                <a:latin typeface="Calibri"/>
              </a:rPr>
              <a:t>Why 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7356" y="2770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6" y="260604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4 builders in Lima, Peru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35478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6" y="338328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The communities we monetize are people we can call by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7356" y="4325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6" y="416052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Shipped end-to-end on Bitcoin mainnet — in a weekend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7356" y="51023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6" y="4937760"/>
            <a:ext cx="50886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CF0"/>
                </a:solidFill>
                <a:latin typeface="Calibri"/>
              </a:rPr>
              <a:t>MoneyDevKit accessible in Spanish via Discord — natural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8B93A7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0"/>
            <a:ext cx="777240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64008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931A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ECECF0"/>
                </a:solidFill>
                <a:latin typeface="Calibri"/>
              </a:rPr>
              <a:t>Spiral Challenge 02.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F7931A"/>
                </a:solidFill>
                <a:latin typeface="Calibri"/>
              </a:rPr>
              <a:t>Back the only payment rail that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FFD580"/>
                </a:solidFill>
                <a:latin typeface="Calibri"/>
              </a:rPr>
              <a:t>Ayni is reciprocity, encoded in software, at sub-cent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ECECF0"/>
                </a:solidFill>
                <a:latin typeface="Consolas"/>
              </a:rPr>
              <a:t>ayniw.com     ·     github.com/d3nn1sVZ/Ayni-agents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