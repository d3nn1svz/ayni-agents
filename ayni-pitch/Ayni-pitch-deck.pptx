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[TITLE]   ~5s  ·  greet + name</a:t>
            </a:r>
          </a:p>
          <a:p/>
          <a:p>
            <a:r>
              <a:t>Hi — we're Ayni. Four builders out of Lima, Peru.</a:t>
            </a:r>
          </a:p>
          <a:p/>
          <a:p>
            <a:r>
              <a:t>— smile, breathe, click. Don't open with the etymology of "ayni" — that's the closer.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[WHAT WE DO]   ~30s  ·  set the scene with the concrete example</a:t>
            </a:r>
          </a:p>
          <a:p/>
          <a:p>
            <a:r>
              <a:t>Ayni is a marketplace where AI agents pay tribes of human experts to answer specialized questions, over Lightning Network.</a:t>
            </a:r>
          </a:p>
          <a:p/>
          <a:p>
            <a:r>
              <a:t>An accounting agent calls our API, asks "what's the IGV rate in Peru," and pays 100 sats. In the same second, that payment auto-splits across all five contributors who maintain Peru's tax tribe — forty sats to the curador, thirty to the validador, ten each to three contribuidores.</a:t>
            </a:r>
          </a:p>
          <a:p/>
          <a:p>
            <a:r>
              <a:t>— stress "auto-splits" and "five contributors". Pause before clicking to slide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WEDGE]   ~25s  ·  ★ the moment the pitch is won ★</a:t>
            </a:r>
          </a:p>
          <a:p/>
          <a:p>
            <a:r>
              <a:t>Stripe physically cannot do this.</a:t>
            </a:r>
          </a:p>
          <a:p/>
          <a:p>
            <a:r>
              <a:t>A 30-cent minimum fee makes splitting a sub-cent payment across five humans negative-sum. Lightning makes it free, instant, and global. That's the entire wedge.</a:t>
            </a:r>
          </a:p>
          <a:p/>
          <a:p>
            <a:r>
              <a:t>— PAUSE for 1 full second after "Stripe physically cannot do this." Let it land. If the room knows payments, they will fact-check it in their head and conclude you're right. That's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PROBLEM]   ~20s  ·  direct, no filler</a:t>
            </a:r>
          </a:p>
          <a:p/>
          <a:p>
            <a:r>
              <a:t>AI agents are scaling fast. The model providers get paid. The platforms get paid. The human experts whose knowledge powers the answers — the Lima CPA, the Spanish data scientist, the regional lawyer — get nothing. Not because nobody wants to pay them. Because the rails can't.</a:t>
            </a:r>
          </a:p>
          <a:p/>
          <a:p>
            <a:r>
              <a:t>— say "rails can't" with conviction. This is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[HOW IT WORKS]   ~25s  ·  show the demo</a:t>
            </a:r>
          </a:p>
          <a:p/>
          <a:p>
            <a:r>
              <a:t>We built it on Bitcoin mainnet during the hackathon. An agent hits our endpoint, gets a 402 Payment Required with a Lightning invoice and an L402 macaroon, pays it in seconds, retries with the preimage, and gets the expert answer. Then a second Lightning fan-out sends each contributor their share.</a:t>
            </a:r>
          </a:p>
          <a:p/>
          <a:p>
            <a:r>
              <a:t>Two tribus live today. Public manifest at slash-well-known so any agent can self-discover. Live at ayniw.com. MIT on GitHub.</a:t>
            </a:r>
          </a:p>
          <a:p/>
          <a:p>
            <a:r>
              <a:t>— hit "Bitcoin mainnet" and "live at ayniw.com" hard. If you have a screen, pull up the dashboard while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[LIVE TRIBUS]   ~15s  ·  proof of scale-out</a:t>
            </a:r>
          </a:p>
          <a:p/>
          <a:p>
            <a:r>
              <a:t>Two tribus live today: Tributario PE — Peruvian tax law, 100 sat per call, 5 contributors. Data Science ES — Spanish data science, 75 sat per call, 3 contributors.</a:t>
            </a:r>
          </a:p>
          <a:p/>
          <a:p>
            <a:r>
              <a:t>Adding a tribu is a config change in data/tribus.json. Not a code change. That means every additional knowledge community is a 5-minute onboard, not a sprint.</a:t>
            </a:r>
          </a:p>
          <a:p/>
          <a:p>
            <a:r>
              <a:t>— if pressed for time, drop the sat amounts and just say "two tribus live, 5 contributors and 3 contributors respectively."</a:t>
            </a:r>
          </a:p>
          <a:p/>
          <a:p>
            <a:r>
              <a:t>Anticipated Q: "what about quality / fraud?" — the curador role exists for that. Validation is the tribu's job, not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[WHY NOW / WHY US]   ~15s</a:t>
            </a:r>
          </a:p>
          <a:p/>
          <a:p>
            <a:r>
              <a:t>Why now: L402 just got ergonomic, agents went from demo to production this year, and Lightning is mature.</a:t>
            </a:r>
          </a:p>
          <a:p/>
          <a:p>
            <a:r>
              <a:t>Why us: we're four builders in Lima, and the communities we're monetizing — Peruvian contadores, Latam data scientists — are people we can call by name today.</a:t>
            </a:r>
          </a:p>
          <a:p/>
          <a:p>
            <a:r>
              <a:t>— "people we can call by name today" is the line that separates us from a Silicon-Valley pitch on the same idea. Don't rush past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ASK]   ~10s  ·  end on the closer, then STOP</a:t>
            </a:r>
          </a:p>
          <a:p/>
          <a:p>
            <a:r>
              <a:t>Ayni is the Quechua word for reciprocity. We've encoded it in software.</a:t>
            </a:r>
          </a:p>
          <a:p/>
          <a:p>
            <a:r>
              <a:t>We're asking Spiral to back the only payment rail that can.</a:t>
            </a:r>
          </a:p>
          <a:p/>
          <a:p>
            <a:r>
              <a:t>— say the final line slowly. Make eye contact. STOP. Don't fill the silence — let the judge speak first. The next person to talk should not be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789920" y="0"/>
            <a:ext cx="1463040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280160"/>
            <a:ext cx="12191695" cy="2926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0" b="1" i="0">
                <a:solidFill>
                  <a:srgbClr val="F7931A"/>
                </a:solidFill>
                <a:latin typeface="Calibri"/>
              </a:rPr>
              <a:t>ayni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1605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400" b="0" i="0">
                <a:solidFill>
                  <a:srgbClr val="ECECF0"/>
                </a:solidFill>
                <a:latin typeface="Calibri"/>
              </a:rPr>
              <a:t>Programmable reciprocity for the agent economy.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7091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1">
                <a:solidFill>
                  <a:srgbClr val="8B93A7"/>
                </a:solidFill>
                <a:latin typeface="Calibri"/>
              </a:rPr>
              <a:t>Quechua  ·  today I help you, tomorrow you help 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89788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ECECF0"/>
                </a:solidFill>
                <a:latin typeface="Calibri"/>
              </a:rPr>
              <a:t>Dennis Vivas   ·   Cindy Rojas   ·   Miluska Pajuelo   ·   Jhoselyn Pajuelo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309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0" i="0">
                <a:solidFill>
                  <a:srgbClr val="8B93A7"/>
                </a:solidFill>
                <a:latin typeface="Calibri"/>
              </a:rPr>
              <a:t>Lima, Peru   ·   Hack Nation 5   ·   Spiral Challenge 02   ·   ayniw.com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91672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ECECF0"/>
                </a:solidFill>
                <a:latin typeface="Calibri"/>
              </a:rPr>
              <a:t>AI agents pay tribes of human experts via Lightning Network.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0"/>
            <a:ext cx="11091672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>
                <a:solidFill>
                  <a:srgbClr val="ECECF0"/>
                </a:solidFill>
                <a:latin typeface="Calibri"/>
              </a:rPr>
              <a:t>Every sub-cent payment </a:t>
            </a:r>
            <a:r>
              <a:rPr sz="3600" b="1" i="0">
                <a:solidFill>
                  <a:srgbClr val="F7931A"/>
                </a:solidFill>
                <a:latin typeface="Calibri"/>
              </a:rPr>
              <a:t>auto-splits</a:t>
            </a:r>
            <a:r>
              <a:rPr sz="3600" b="1" i="0">
                <a:solidFill>
                  <a:srgbClr val="ECECF0"/>
                </a:solidFill>
                <a:latin typeface="Calibri"/>
              </a:rPr>
              <a:t> across all the contributors — in the same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8B93A7"/>
                </a:solidFill>
                <a:latin typeface="Calibri"/>
              </a:rPr>
              <a:t>ayniw.com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0936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8B93A7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THE 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ECECF0"/>
                </a:solidFill>
                <a:latin typeface="Calibri"/>
              </a:rPr>
              <a:t>What Stripe physically cannot do.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45720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8B93A7"/>
                </a:solidFill>
                <a:latin typeface="Calibri"/>
              </a:rPr>
              <a:t>$0.30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2286000"/>
            <a:ext cx="58521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ECECF0"/>
                </a:solidFill>
                <a:latin typeface="Calibri"/>
              </a:rPr>
              <a:t>Stripe's minimum fee per transaction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02152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502152"/>
            <a:ext cx="45720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55A4F"/>
                </a:solidFill>
                <a:latin typeface="Calibri"/>
              </a:rPr>
              <a:t>negative-sum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502152"/>
            <a:ext cx="58521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ECECF0"/>
                </a:solidFill>
                <a:latin typeface="Calibri"/>
              </a:rPr>
              <a:t>Splitting one payment across 5 humans on Stripe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18304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18304"/>
            <a:ext cx="457200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7931A"/>
                </a:solidFill>
                <a:latin typeface="Calibri"/>
              </a:rPr>
              <a:t>~ $0.00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4718304"/>
            <a:ext cx="58521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ECECF0"/>
                </a:solidFill>
                <a:latin typeface="Calibri"/>
              </a:rPr>
              <a:t>Splitting one payment across 5 humans on Lightning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26364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1">
                <a:solidFill>
                  <a:srgbClr val="FFD580"/>
                </a:solidFill>
                <a:latin typeface="Calibri"/>
              </a:rPr>
              <a:t>We do the one thing the existing payment stack physically cannot.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ECECF0"/>
                </a:solidFill>
                <a:latin typeface="Calibri"/>
              </a:rPr>
              <a:t>AI agents scale.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ECECF0"/>
                </a:solidFill>
                <a:latin typeface="Calibri"/>
              </a:rPr>
              <a:t>Model providers and platforms get paid.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1109167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ECECF0"/>
                </a:solidFill>
                <a:latin typeface="Calibri"/>
              </a:rPr>
              <a:t>The human experts whose knowledge powers the answers — </a:t>
            </a:r>
            <a:r>
              <a:rPr sz="4000" b="1" i="0">
                <a:solidFill>
                  <a:srgbClr val="F7931A"/>
                </a:solidFill>
                <a:latin typeface="Calibri"/>
              </a:rPr>
              <a:t>get nothing.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109167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1">
                <a:solidFill>
                  <a:srgbClr val="8B93A7"/>
                </a:solidFill>
                <a:latin typeface="Calibri"/>
              </a:rPr>
              <a:t>Not because nobody wants to pay them. Because the rails can't.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ECECF0"/>
                </a:solidFill>
                <a:latin typeface="Calibri"/>
              </a:rPr>
              <a:t>Live on Bitcoin mainnet.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2377440" cy="182880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6060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175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Agent calls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204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B93A7"/>
                </a:solidFill>
                <a:latin typeface="Consolas"/>
              </a:rPr>
              <a:t>GET /api/ayni/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B93A7"/>
                </a:solidFill>
                <a:latin typeface="Consolas"/>
              </a:rPr>
              <a:t>tributario-pe?q=...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63240" y="3218688"/>
            <a:ext cx="365760" cy="329184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74720" y="2468880"/>
            <a:ext cx="2377440" cy="182880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6060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0175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402 + invoice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5204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B93A7"/>
                </a:solidFill>
                <a:latin typeface="Consolas"/>
              </a:rPr>
              <a:t>Lightning invoice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B93A7"/>
                </a:solidFill>
                <a:latin typeface="Consolas"/>
              </a:rPr>
              <a:t>+ L402 macaroon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97880" y="3218688"/>
            <a:ext cx="365760" cy="329184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09360" y="2468880"/>
            <a:ext cx="2377440" cy="182880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6060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0175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Wallet pays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5204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B93A7"/>
                </a:solidFill>
                <a:latin typeface="Consolas"/>
              </a:rPr>
              <a:t>preimage verified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B93A7"/>
                </a:solidFill>
                <a:latin typeface="Consolas"/>
              </a:rPr>
              <a:t>sha256(preimage) == hash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732520" y="3218688"/>
            <a:ext cx="365760" cy="329184"/>
          </a:xfrm>
          <a:prstGeom prst="rightArrow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0" y="2468880"/>
            <a:ext cx="2377440" cy="1828800"/>
          </a:xfrm>
          <a:prstGeom prst="roundRect">
            <a:avLst>
              <a:gd name="adj" fmla="val 8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26060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301752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CECF0"/>
                </a:solidFill>
                <a:latin typeface="Calibri"/>
              </a:rPr>
              <a:t>Fan-out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520440"/>
            <a:ext cx="1920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B93A7"/>
                </a:solidFill>
                <a:latin typeface="Consolas"/>
              </a:rPr>
              <a:t>5 onward Lightning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8B93A7"/>
                </a:solidFill>
                <a:latin typeface="Consolas"/>
              </a:rPr>
              <a:t>sends to contributors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4632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 i="1">
                <a:solidFill>
                  <a:srgbClr val="FFD580"/>
                </a:solidFill>
                <a:latin typeface="Calibri"/>
              </a:rPr>
              <a:t>End-to-end on Bitcoin mainnet.   MIT-licensed.   Public agent-skill.json manifest.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49677" y="5577840"/>
            <a:ext cx="1687068" cy="45720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49677" y="5577840"/>
            <a:ext cx="16870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ECECF0"/>
                </a:solidFill>
                <a:latin typeface="Calibri"/>
              </a:rPr>
              <a:t>MoneyDevKit v0.16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73905" y="5577840"/>
            <a:ext cx="1376172" cy="45720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3905" y="5577840"/>
            <a:ext cx="137617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ECECF0"/>
                </a:solidFill>
                <a:latin typeface="Calibri"/>
              </a:rPr>
              <a:t>L402 protocol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87237" y="5577840"/>
            <a:ext cx="2386584" cy="45720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87237" y="5577840"/>
            <a:ext cx="238658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ECECF0"/>
                </a:solidFill>
                <a:latin typeface="Calibri"/>
              </a:rPr>
              <a:t>BOLT12 / Lightning Address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10981" y="5577840"/>
            <a:ext cx="1842516" cy="457200"/>
          </a:xfrm>
          <a:prstGeom prst="roundRect">
            <a:avLst>
              <a:gd name="adj" fmla="val 50000"/>
            </a:avLst>
          </a:prstGeom>
          <a:solidFill>
            <a:srgbClr val="22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0981" y="5577840"/>
            <a:ext cx="184251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ECECF0"/>
                </a:solidFill>
                <a:latin typeface="Calibri"/>
              </a:rPr>
              <a:t>Next.js 15 · Vercel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0080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8B93A7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LIVE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ECECF0"/>
                </a:solidFill>
                <a:latin typeface="Calibri"/>
              </a:rPr>
              <a:t>Two tribus shipped during the hackathon.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5362956" cy="356616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63143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7931A"/>
                </a:solidFill>
                <a:latin typeface="Calibri"/>
              </a:rPr>
              <a:t>Tributario 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8B93A7"/>
                </a:solidFill>
                <a:latin typeface="Calibri"/>
              </a:rPr>
              <a:t>Peruvian tax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ECECF0"/>
                </a:solidFill>
                <a:latin typeface="Calibri"/>
              </a:rPr>
              <a:t>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40690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8B93A7"/>
                </a:solidFill>
                <a:latin typeface="Calibri"/>
              </a:rPr>
              <a:t>sat / 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ECECF0"/>
                </a:solidFill>
                <a:latin typeface="Calibri"/>
              </a:rPr>
              <a:t>5 contributors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7492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D580"/>
                </a:solidFill>
                <a:latin typeface="Consolas"/>
              </a:rPr>
              <a:t>Curador 40   ·   Validador 30   ·   Contribuidor 10 ×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44068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8B93A7"/>
                </a:solidFill>
                <a:latin typeface="Calibri"/>
              </a:rPr>
              <a:t>IGV  ·  rentas 4ta / 5ta  ·  RER  ·  NRUS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7356" y="2286000"/>
            <a:ext cx="5362956" cy="3566160"/>
          </a:xfrm>
          <a:prstGeom prst="roundRect">
            <a:avLst>
              <a:gd name="adj" fmla="val 5000"/>
            </a:avLst>
          </a:prstGeom>
          <a:solidFill>
            <a:srgbClr val="18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3116" y="2560320"/>
            <a:ext cx="463143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7931A"/>
                </a:solidFill>
                <a:latin typeface="Calibri"/>
              </a:rPr>
              <a:t>Data Science 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3116" y="315468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8B93A7"/>
                </a:solidFill>
                <a:latin typeface="Calibri"/>
              </a:rPr>
              <a:t>Spanish / LatAm DS practice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3116" y="3657600"/>
            <a:ext cx="1828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ECECF0"/>
                </a:solidFill>
                <a:latin typeface="Calibri"/>
              </a:rPr>
              <a:t>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1875" y="40690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8B93A7"/>
                </a:solidFill>
                <a:latin typeface="Calibri"/>
              </a:rPr>
              <a:t>sat / 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3116" y="470916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ECECF0"/>
                </a:solidFill>
                <a:latin typeface="Calibri"/>
              </a:rPr>
              <a:t>3 contributors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3116" y="507492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D580"/>
                </a:solidFill>
                <a:latin typeface="Consolas"/>
              </a:rPr>
              <a:t>Curador 50   ·   Contribuidor 25 ×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3116" y="5440680"/>
            <a:ext cx="46314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8B93A7"/>
                </a:solidFill>
                <a:latin typeface="Calibri"/>
              </a:rPr>
              <a:t>models  ·  datasets  ·  regional best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26480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1">
                <a:solidFill>
                  <a:srgbClr val="FFD580"/>
                </a:solidFill>
                <a:latin typeface="Calibri"/>
              </a:rPr>
              <a:t>Adding a tribu = config change in data/tribus.json. Not a code change.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TIMING &amp;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6295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ECECF0"/>
                </a:solidFill>
                <a:latin typeface="Calibri"/>
              </a:rPr>
              <a:t>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706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50886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ECECF0"/>
                </a:solidFill>
                <a:latin typeface="Calibri"/>
              </a:rPr>
              <a:t>L402 finally ergonomic   ·   MoneyDevKit v0.16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4787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383280"/>
            <a:ext cx="50886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ECECF0"/>
                </a:solidFill>
                <a:latin typeface="Calibri"/>
              </a:rPr>
              <a:t>AI agents went production in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251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160520"/>
            <a:ext cx="50886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ECECF0"/>
                </a:solidFill>
                <a:latin typeface="Calibri"/>
              </a:rPr>
              <a:t>Lightning capacity mature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10235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50886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ECECF0"/>
                </a:solidFill>
                <a:latin typeface="Calibri"/>
              </a:rPr>
              <a:t>Stablecoin rails replace one gatekeeper with another. Lightning doesn't.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7356" y="1737360"/>
            <a:ext cx="536295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ECECF0"/>
                </a:solidFill>
                <a:latin typeface="Calibri"/>
              </a:rPr>
              <a:t>Why us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7356" y="277063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1676" y="2606040"/>
            <a:ext cx="50886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ECECF0"/>
                </a:solidFill>
                <a:latin typeface="Calibri"/>
              </a:rPr>
              <a:t>4 builders in Lima, Peru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7356" y="354787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1676" y="3383280"/>
            <a:ext cx="50886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ECECF0"/>
                </a:solidFill>
                <a:latin typeface="Calibri"/>
              </a:rPr>
              <a:t>The communities we monetize are people we can call by name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7356" y="432511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1676" y="4160520"/>
            <a:ext cx="50886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ECECF0"/>
                </a:solidFill>
                <a:latin typeface="Calibri"/>
              </a:rPr>
              <a:t>Shipped end-to-end on Bitcoin mainnet — in a weekend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7356" y="5102352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1676" y="4937760"/>
            <a:ext cx="508863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ECECF0"/>
                </a:solidFill>
                <a:latin typeface="Calibri"/>
              </a:rPr>
              <a:t>MoneyDevKit accessible in Spanish via Discord — natural fit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0080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8B93A7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430000" y="0"/>
            <a:ext cx="777240" cy="68580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40080"/>
            <a:ext cx="64008" cy="457200"/>
          </a:xfrm>
          <a:prstGeom prst="rect">
            <a:avLst/>
          </a:prstGeom>
          <a:solidFill>
            <a:srgbClr val="F793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7931A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400" b="1" i="0">
                <a:solidFill>
                  <a:srgbClr val="ECECF0"/>
                </a:solidFill>
                <a:latin typeface="Calibri"/>
              </a:rPr>
              <a:t>Spiral Challenge 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0332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5600" b="1" i="0">
                <a:solidFill>
                  <a:srgbClr val="F7931A"/>
                </a:solidFill>
                <a:latin typeface="Calibri"/>
              </a:rPr>
              <a:t>Back the only payment rail that can.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 i="1">
                <a:solidFill>
                  <a:srgbClr val="FFD580"/>
                </a:solidFill>
                <a:latin typeface="Calibri"/>
              </a:rPr>
              <a:t>Ayni is reciprocity, encoded in software, at sub-cent scale.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0" i="0">
                <a:solidFill>
                  <a:srgbClr val="ECECF0"/>
                </a:solidFill>
                <a:latin typeface="Consolas"/>
              </a:rPr>
              <a:t>ayniw.com     ·     github.com/d3nn1sVZ/Ayni-agents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